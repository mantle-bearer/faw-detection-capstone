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Arial Black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013605-8B19-4B17-9465-CD4F48A44110}">
  <a:tblStyle styleId="{62013605-8B19-4B17-9465-CD4F48A441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653E535-451B-4B61-B24E-656DD19DE18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al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2" y="1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75" spcFirstLastPara="1" rIns="91475" wrap="square" tIns="45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9" y="1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75" spcFirstLastPara="1" rIns="91475" wrap="square" tIns="457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75" spcFirstLastPara="1" rIns="91475" wrap="square" tIns="457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2" y="9720264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75" spcFirstLastPara="1" rIns="91475" wrap="square" tIns="45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9" y="9720264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75" spcFirstLastPara="1" rIns="91475" wrap="square" tIns="45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1eb95ba92_0_98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a1eb95ba92_0_98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15f7be074_0_10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a15f7be074_0_10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1eb95ba92_0_9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a1eb95ba92_0_9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15f7be074_0_35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a15f7be074_0_35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15f7be074_0_44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15f7be074_0_44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15f7be074_0_50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a15f7be074_0_50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15f7be074_0_56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15f7be074_0_56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1eb95ba92_0_35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a1eb95ba92_0_35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15f7be074_0_75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a15f7be074_0_75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15f7be074_0_81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a15f7be074_0_81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15f7be074_0_68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a15f7be074_0_68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1eb95ba92_0_52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a1eb95ba92_0_52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1eb95ba92_0_67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a1eb95ba92_0_67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1eb95ba92_0_122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a1eb95ba92_0_122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1eb95ba92_0_105:notes"/>
          <p:cNvSpPr txBox="1"/>
          <p:nvPr>
            <p:ph idx="1" type="body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a1eb95ba92_0_105:notes"/>
          <p:cNvSpPr/>
          <p:nvPr>
            <p:ph idx="2" type="sldImg"/>
          </p:nvPr>
        </p:nvSpPr>
        <p:spPr>
          <a:xfrm>
            <a:off x="990600" y="766763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43175" y="685550"/>
            <a:ext cx="117855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4C783D"/>
                </a:solidFill>
                <a:latin typeface="Arial Black"/>
                <a:ea typeface="Arial Black"/>
                <a:cs typeface="Arial Black"/>
                <a:sym typeface="Arial Black"/>
              </a:rPr>
              <a:t>Fall Armyworm Supervised</a:t>
            </a:r>
            <a:endParaRPr b="1" sz="5700">
              <a:solidFill>
                <a:srgbClr val="4C783D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4C783D"/>
                </a:solidFill>
                <a:latin typeface="Arial Black"/>
                <a:ea typeface="Arial Black"/>
                <a:cs typeface="Arial Black"/>
                <a:sym typeface="Arial Black"/>
              </a:rPr>
              <a:t>AI Detection </a:t>
            </a:r>
            <a:endParaRPr sz="3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C783D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4C783D"/>
                </a:solidFill>
              </a:rPr>
              <a:t>TechCrush </a:t>
            </a:r>
            <a:r>
              <a:rPr b="1" lang="en-US" sz="3100">
                <a:solidFill>
                  <a:srgbClr val="4C783D"/>
                </a:solidFill>
                <a:latin typeface="Arial"/>
                <a:ea typeface="Arial"/>
                <a:cs typeface="Arial"/>
                <a:sym typeface="Arial"/>
              </a:rPr>
              <a:t>Artificial Intelligence Capstone Project </a:t>
            </a:r>
            <a:endParaRPr b="1" sz="3100">
              <a:solidFill>
                <a:srgbClr val="4C783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4C783D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3100">
                <a:solidFill>
                  <a:srgbClr val="4C783D"/>
                </a:solidFill>
                <a:latin typeface="Arial"/>
                <a:ea typeface="Arial"/>
                <a:cs typeface="Arial"/>
                <a:sym typeface="Arial"/>
              </a:rPr>
              <a:t>Cohort 3</a:t>
            </a:r>
            <a:r>
              <a:rPr b="1" lang="en-US" sz="3100">
                <a:solidFill>
                  <a:srgbClr val="4C783D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sz="2300">
              <a:solidFill>
                <a:srgbClr val="4C783D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C783D"/>
                </a:solidFill>
              </a:rPr>
              <a:t>[ Prepared by </a:t>
            </a:r>
            <a:r>
              <a:rPr b="1" lang="en-US" sz="2300">
                <a:solidFill>
                  <a:srgbClr val="4C783D"/>
                </a:solidFill>
                <a:latin typeface="Arial"/>
                <a:ea typeface="Arial"/>
                <a:cs typeface="Arial"/>
                <a:sym typeface="Arial"/>
              </a:rPr>
              <a:t>Group U</a:t>
            </a:r>
            <a:r>
              <a:rPr b="1" lang="en-US" sz="2300">
                <a:solidFill>
                  <a:srgbClr val="4C783D"/>
                </a:solidFill>
              </a:rPr>
              <a:t> ]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468350"/>
            <a:ext cx="12192000" cy="829200"/>
          </a:xfrm>
          <a:prstGeom prst="rect">
            <a:avLst/>
          </a:prstGeom>
          <a:solidFill>
            <a:srgbClr val="4C78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Abstract / Executive Summary</a:t>
            </a:r>
            <a:endParaRPr sz="36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72900" y="1368725"/>
            <a:ext cx="117939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presents an AI-based supervised learning approach to detect Fall Armyworm infestations from crop images. Using DenseNet121</a:t>
            </a: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 pre-trained CNN)</a:t>
            </a: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our model achieved more than 90% test accuracy and 0.98 F1-score in classifying Healthy vs FAW-Damaged crops. 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trained model was exported to ONNX for deployment in mobile and cloud environments, providing a scalable early warning system for pest control in agriculture.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468350"/>
            <a:ext cx="12192000" cy="829200"/>
          </a:xfrm>
          <a:prstGeom prst="rect">
            <a:avLst/>
          </a:prstGeom>
          <a:solidFill>
            <a:srgbClr val="4C78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600">
                <a:solidFill>
                  <a:schemeClr val="lt1"/>
                </a:solidFill>
              </a:rPr>
              <a:t>Fall Armyworm (FAW)</a:t>
            </a:r>
            <a:endParaRPr sz="36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125300" y="1297550"/>
            <a:ext cx="60249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destructive moth pest (</a:t>
            </a:r>
            <a:r>
              <a:rPr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Spodoptera frugiperda</a:t>
            </a: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whose larvae feed on crops.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Attacks over 80 plant species, mainly maize, rice and sorghum.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Causes about 31% annual maize yield loss in Africa, threatening food security.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5456" y="468350"/>
            <a:ext cx="5681400" cy="638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>
            <a:off x="0" y="475450"/>
            <a:ext cx="12192000" cy="1109700"/>
          </a:xfrm>
          <a:prstGeom prst="rect">
            <a:avLst/>
          </a:prstGeom>
          <a:solidFill>
            <a:srgbClr val="4C78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/>
          <p:nvPr>
            <p:ph type="title"/>
          </p:nvPr>
        </p:nvSpPr>
        <p:spPr>
          <a:xfrm>
            <a:off x="541050" y="550150"/>
            <a:ext cx="70764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 Black"/>
              <a:buNone/>
            </a:pPr>
            <a:r>
              <a:rPr b="1" lang="en-US" sz="3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Project Goal &amp; Objectives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332225" y="1737825"/>
            <a:ext cx="5802000" cy="3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Goal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Develop a supervised machine learning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latin typeface="Arial"/>
                <a:ea typeface="Arial"/>
                <a:cs typeface="Arial"/>
                <a:sym typeface="Arial"/>
              </a:rPr>
              <a:t>model to detect Fall Armyworm using visual data.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Classify crop images as either Healthy Crop or FAW Damaged.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6262100" y="1678489"/>
            <a:ext cx="5713200" cy="43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6153"/>
              <a:buFont typeface="Arial"/>
              <a:buNone/>
            </a:pPr>
            <a:r>
              <a:rPr b="1" lang="en-US" sz="3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3250"/>
          </a:p>
          <a:p>
            <a:pPr indent="-214693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Supervised learning principles</a:t>
            </a:r>
            <a:endParaRPr/>
          </a:p>
          <a:p>
            <a:pPr indent="-214693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 and evaluate a compact image classification model</a:t>
            </a:r>
            <a:endParaRPr/>
          </a:p>
          <a:p>
            <a:pPr indent="-214693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Export model in ONNX format for deployment</a:t>
            </a:r>
            <a:endParaRPr/>
          </a:p>
          <a:p>
            <a:pPr indent="-214693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Reproducibility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0" y="475450"/>
            <a:ext cx="12192000" cy="1109700"/>
          </a:xfrm>
          <a:prstGeom prst="rect">
            <a:avLst/>
          </a:prstGeom>
          <a:solidFill>
            <a:srgbClr val="4C78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 txBox="1"/>
          <p:nvPr>
            <p:ph type="title"/>
          </p:nvPr>
        </p:nvSpPr>
        <p:spPr>
          <a:xfrm>
            <a:off x="541050" y="550150"/>
            <a:ext cx="112494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 Black"/>
              <a:buNone/>
            </a:pPr>
            <a:r>
              <a:rPr b="1" lang="en-US" sz="3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Project Methodology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296625" y="1720425"/>
            <a:ext cx="11200500" cy="50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US" sz="2400"/>
              <a:t>Data Loading &amp; Preprocessing</a:t>
            </a:r>
            <a:endParaRPr b="1" sz="24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Load FAW Dataset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 Clean and augment images (rotation, flipping, resizing)</a:t>
            </a:r>
            <a:endParaRPr sz="19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US" sz="2400"/>
              <a:t>Model Selection &amp; Training</a:t>
            </a:r>
            <a:endParaRPr b="1" sz="24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Train using CNN pre trained models (e.g., MobileNetV2, EfficientNetB0, ResNet50) 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Pick the best performing model using f1-score and recall metrics to evaluate (DenseNet121)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Tune hyperparameters for optimal accuracy </a:t>
            </a:r>
            <a:endParaRPr sz="19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US" sz="2400"/>
              <a:t>Research and Evaluation</a:t>
            </a:r>
            <a:endParaRPr b="1" sz="24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Measure Accuracy, Precision, Recall, and F1-Score. 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Visualize training and validation performance</a:t>
            </a:r>
            <a:endParaRPr sz="19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US" sz="2400"/>
              <a:t>Open Neural Network Exchange (ONNX) Export</a:t>
            </a:r>
            <a:endParaRPr b="1" sz="2400"/>
          </a:p>
          <a:p>
            <a:pPr indent="-37352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82"/>
              <a:buChar char="•"/>
            </a:pPr>
            <a:r>
              <a:rPr lang="en-US" sz="2282"/>
              <a:t>Convert the trained model to ONNX format for portability</a:t>
            </a:r>
            <a:endParaRPr sz="2282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/>
          <p:nvPr/>
        </p:nvSpPr>
        <p:spPr>
          <a:xfrm>
            <a:off x="0" y="365125"/>
            <a:ext cx="12192000" cy="10953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505975" y="418975"/>
            <a:ext cx="111333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Development Environment</a:t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075" y="1460425"/>
            <a:ext cx="11643852" cy="53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0" y="310900"/>
            <a:ext cx="12192000" cy="9630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 txBox="1"/>
          <p:nvPr>
            <p:ph type="title"/>
          </p:nvPr>
        </p:nvSpPr>
        <p:spPr>
          <a:xfrm>
            <a:off x="647811" y="1296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Dataset and Preprocessing</a:t>
            </a:r>
            <a:endParaRPr/>
          </a:p>
        </p:txBody>
      </p:sp>
      <p:graphicFrame>
        <p:nvGraphicFramePr>
          <p:cNvPr id="131" name="Google Shape;131;p19"/>
          <p:cNvGraphicFramePr/>
          <p:nvPr/>
        </p:nvGraphicFramePr>
        <p:xfrm>
          <a:off x="776463" y="14162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{62013605-8B19-4B17-9465-CD4F48A44110}</a:tableStyleId>
              </a:tblPr>
              <a:tblGrid>
                <a:gridCol w="3637800"/>
                <a:gridCol w="700125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Details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54000">
                <a:tc>
                  <a:txBody>
                    <a:bodyPr/>
                    <a:lstStyle/>
                    <a:p>
                      <a:pPr indent="-215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Data Source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Kaggle, Google, Roboflow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36575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Classes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FAW Damage (1)</a:t>
                      </a: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 and </a:t>
                      </a: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Healthy (0) </a:t>
                      </a: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images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723875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u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Total images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2,989</a:t>
                      </a: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 (1,882 </a:t>
                      </a: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FAW Damage </a:t>
                      </a: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and 1,107 Healthy images)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23875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Preprocessing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Resized(224 X 224),Normalized (0–1), Split (70% Train, 15% Validation, 15% Test)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723875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Data Augmentation</a:t>
                      </a:r>
                      <a:endParaRPr/>
                    </a:p>
                    <a:p>
                      <a:pPr indent="-215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Libraries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Rotation, Flipping, Zoom, Brightness adjustment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TensorFlow and Keras for data loading and augmentation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32" name="Google Shape;132;p19"/>
          <p:cNvCxnSpPr/>
          <p:nvPr/>
        </p:nvCxnSpPr>
        <p:spPr>
          <a:xfrm>
            <a:off x="772668" y="2304288"/>
            <a:ext cx="1064666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" name="Google Shape;133;p19"/>
          <p:cNvCxnSpPr/>
          <p:nvPr/>
        </p:nvCxnSpPr>
        <p:spPr>
          <a:xfrm>
            <a:off x="4084320" y="1641920"/>
            <a:ext cx="0" cy="490518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/>
          <p:nvPr/>
        </p:nvSpPr>
        <p:spPr>
          <a:xfrm>
            <a:off x="0" y="310900"/>
            <a:ext cx="12192000" cy="9630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/>
          <p:nvPr>
            <p:ph type="title"/>
          </p:nvPr>
        </p:nvSpPr>
        <p:spPr>
          <a:xfrm>
            <a:off x="647811" y="1296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Data </a:t>
            </a: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Summary</a:t>
            </a:r>
            <a:endParaRPr/>
          </a:p>
        </p:txBody>
      </p:sp>
      <p:graphicFrame>
        <p:nvGraphicFramePr>
          <p:cNvPr id="140" name="Google Shape;140;p20"/>
          <p:cNvGraphicFramePr/>
          <p:nvPr/>
        </p:nvGraphicFramePr>
        <p:xfrm>
          <a:off x="647800" y="151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{E653E535-451B-4B61-B24E-656DD19DE184}</a:tableStyleId>
              </a:tblPr>
              <a:tblGrid>
                <a:gridCol w="3567425"/>
                <a:gridCol w="3567425"/>
                <a:gridCol w="3567425"/>
              </a:tblGrid>
              <a:tr h="95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Class</a:t>
                      </a:r>
                      <a:endParaRPr b="1" sz="3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Description</a:t>
                      </a:r>
                      <a:endParaRPr b="1" sz="3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Image Count</a:t>
                      </a:r>
                      <a:endParaRPr b="1" sz="3000"/>
                    </a:p>
                  </a:txBody>
                  <a:tcPr marT="91425" marB="91425" marR="91425" marL="91425"/>
                </a:tc>
              </a:tr>
              <a:tr h="95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Healthy Crop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1107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95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FAW Damage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1882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95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Total</a:t>
                      </a:r>
                      <a:endParaRPr b="1" sz="3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—</a:t>
                      </a:r>
                      <a:endParaRPr b="1" sz="3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2989</a:t>
                      </a:r>
                      <a:endParaRPr b="1" sz="3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1" name="Google Shape;141;p20"/>
          <p:cNvSpPr txBox="1"/>
          <p:nvPr/>
        </p:nvSpPr>
        <p:spPr>
          <a:xfrm>
            <a:off x="647838" y="5505400"/>
            <a:ext cx="10702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combined from Kaggle, Roboflow, and Google sources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Augmentation applied to handle imbalance (flipping, rotation, contrast)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Images resized to 224×224 pixels.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0" y="310900"/>
            <a:ext cx="12192000" cy="9630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 txBox="1"/>
          <p:nvPr>
            <p:ph type="title"/>
          </p:nvPr>
        </p:nvSpPr>
        <p:spPr>
          <a:xfrm>
            <a:off x="647811" y="1296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Class Distribution</a:t>
            </a:r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800" y="1321375"/>
            <a:ext cx="7746515" cy="54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/>
          <p:nvPr/>
        </p:nvSpPr>
        <p:spPr>
          <a:xfrm>
            <a:off x="0" y="310900"/>
            <a:ext cx="12192000" cy="9630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2"/>
          <p:cNvSpPr txBox="1"/>
          <p:nvPr>
            <p:ph type="title"/>
          </p:nvPr>
        </p:nvSpPr>
        <p:spPr>
          <a:xfrm>
            <a:off x="647799" y="129625"/>
            <a:ext cx="1127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Image Dimensions by </a:t>
            </a: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Class</a:t>
            </a:r>
            <a:endParaRPr/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550" y="1348525"/>
            <a:ext cx="8876926" cy="527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/>
          <p:nvPr/>
        </p:nvSpPr>
        <p:spPr>
          <a:xfrm>
            <a:off x="0" y="310900"/>
            <a:ext cx="12192000" cy="9630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 txBox="1"/>
          <p:nvPr>
            <p:ph type="title"/>
          </p:nvPr>
        </p:nvSpPr>
        <p:spPr>
          <a:xfrm>
            <a:off x="647811" y="1296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Aspect </a:t>
            </a: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Distribution of Images</a:t>
            </a:r>
            <a:endParaRPr/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800" y="1273900"/>
            <a:ext cx="9888376" cy="554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/>
          <p:nvPr/>
        </p:nvSpPr>
        <p:spPr>
          <a:xfrm>
            <a:off x="0" y="310900"/>
            <a:ext cx="12192000" cy="9630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/>
          <p:nvPr>
            <p:ph type="title"/>
          </p:nvPr>
        </p:nvSpPr>
        <p:spPr>
          <a:xfrm>
            <a:off x="647811" y="1296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Random Image Samples</a:t>
            </a:r>
            <a:endParaRPr/>
          </a:p>
        </p:txBody>
      </p:sp>
      <p:pic>
        <p:nvPicPr>
          <p:cNvPr id="169" name="Google Shape;16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550" y="1365250"/>
            <a:ext cx="9054875" cy="51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/>
          <p:nvPr/>
        </p:nvSpPr>
        <p:spPr>
          <a:xfrm>
            <a:off x="50" y="365625"/>
            <a:ext cx="12192000" cy="10821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5"/>
          <p:cNvSpPr txBox="1"/>
          <p:nvPr>
            <p:ph type="ctrTitle"/>
          </p:nvPr>
        </p:nvSpPr>
        <p:spPr>
          <a:xfrm>
            <a:off x="404762" y="466744"/>
            <a:ext cx="106944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Model Architecture and Training</a:t>
            </a:r>
            <a:endParaRPr/>
          </a:p>
        </p:txBody>
      </p:sp>
      <p:sp>
        <p:nvSpPr>
          <p:cNvPr id="176" name="Google Shape;176;p25"/>
          <p:cNvSpPr txBox="1"/>
          <p:nvPr>
            <p:ph idx="1" type="subTitle"/>
          </p:nvPr>
        </p:nvSpPr>
        <p:spPr>
          <a:xfrm>
            <a:off x="7031725" y="1806099"/>
            <a:ext cx="4892700" cy="42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Training Set –Up: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i="1" lang="en-US">
                <a:latin typeface="Arial"/>
                <a:ea typeface="Arial"/>
                <a:cs typeface="Arial"/>
                <a:sym typeface="Arial"/>
              </a:rPr>
              <a:t>Epochs: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15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i="1" lang="en-US">
                <a:latin typeface="Arial"/>
                <a:ea typeface="Arial"/>
                <a:cs typeface="Arial"/>
                <a:sym typeface="Arial"/>
              </a:rPr>
              <a:t>Batch Size: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32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i="1" lang="en-US">
                <a:latin typeface="Arial"/>
                <a:ea typeface="Arial"/>
                <a:cs typeface="Arial"/>
                <a:sym typeface="Arial"/>
              </a:rPr>
              <a:t>Learning rate: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0.0001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i="1" lang="en-US">
                <a:latin typeface="Arial"/>
                <a:ea typeface="Arial"/>
                <a:cs typeface="Arial"/>
                <a:sym typeface="Arial"/>
              </a:rPr>
              <a:t>Train: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2092 images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i="1" lang="en-US">
                <a:latin typeface="Arial"/>
                <a:ea typeface="Arial"/>
                <a:cs typeface="Arial"/>
                <a:sym typeface="Arial"/>
              </a:rPr>
              <a:t>Validation: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448 images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i="1" lang="en-US">
                <a:latin typeface="Arial"/>
                <a:ea typeface="Arial"/>
                <a:cs typeface="Arial"/>
                <a:sym typeface="Arial"/>
              </a:rPr>
              <a:t>Test: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449 images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716975" y="1806100"/>
            <a:ext cx="6093600" cy="47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Architecture: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type: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Convolutional </a:t>
            </a:r>
            <a:r>
              <a:rPr lang="en-US" sz="2400">
                <a:solidFill>
                  <a:schemeClr val="dk1"/>
                </a:solidFill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eural </a:t>
            </a:r>
            <a:r>
              <a:rPr lang="en-US" sz="2400">
                <a:solidFill>
                  <a:schemeClr val="dk1"/>
                </a:solidFill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etwork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>
                <a:solidFill>
                  <a:schemeClr val="dk1"/>
                </a:solidFill>
              </a:rPr>
              <a:t>Pre Trained</a:t>
            </a:r>
            <a:r>
              <a:rPr i="1" lang="en-US" sz="2400">
                <a:solidFill>
                  <a:schemeClr val="dk1"/>
                </a:solidFill>
              </a:rPr>
              <a:t> CNN Model:</a:t>
            </a:r>
            <a:r>
              <a:rPr lang="en-US" sz="2400">
                <a:solidFill>
                  <a:schemeClr val="dk1"/>
                </a:solidFill>
              </a:rPr>
              <a:t> DenseNet121</a:t>
            </a:r>
            <a:endParaRPr sz="240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Framework: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TensorFlow/Keras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>
                <a:solidFill>
                  <a:schemeClr val="dk1"/>
                </a:solidFill>
              </a:rPr>
              <a:t>Class Names:</a:t>
            </a:r>
            <a:r>
              <a:rPr lang="en-US" sz="2400">
                <a:solidFill>
                  <a:schemeClr val="dk1"/>
                </a:solidFill>
              </a:rPr>
              <a:t> Healthy Crop (0) and FAW Damage (1)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/>
          <p:nvPr/>
        </p:nvSpPr>
        <p:spPr>
          <a:xfrm>
            <a:off x="50" y="365625"/>
            <a:ext cx="12192000" cy="10821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6"/>
          <p:cNvSpPr txBox="1"/>
          <p:nvPr>
            <p:ph type="ctrTitle"/>
          </p:nvPr>
        </p:nvSpPr>
        <p:spPr>
          <a:xfrm>
            <a:off x="404762" y="466744"/>
            <a:ext cx="106944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Fine-Tuning and Optimization</a:t>
            </a:r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716975" y="1806100"/>
            <a:ext cx="10970100" cy="47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Model Fine-Tuning Process: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</a:rPr>
              <a:t>Unfroze top convolutional layers of DenseNet121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Reduced learning rate from 1e-4 → 1e-5 for stable training.</a:t>
            </a:r>
            <a:endParaRPr sz="240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</a:rPr>
              <a:t>Increased training epochs to improve recall.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Applied early stopping and checkpointing.</a:t>
            </a:r>
            <a:endParaRPr sz="240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Resulted in improved validation accuracy (0.78 → 0.97) and F1-score (0.78 → 0.98).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/>
          <p:nvPr/>
        </p:nvSpPr>
        <p:spPr>
          <a:xfrm>
            <a:off x="100" y="252250"/>
            <a:ext cx="12192000" cy="13557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7"/>
          <p:cNvSpPr txBox="1"/>
          <p:nvPr>
            <p:ph type="title"/>
          </p:nvPr>
        </p:nvSpPr>
        <p:spPr>
          <a:xfrm>
            <a:off x="583325" y="359200"/>
            <a:ext cx="87369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Evaluation and Results</a:t>
            </a:r>
            <a:endParaRPr/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763" y="2301825"/>
            <a:ext cx="11609775" cy="42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100" y="252250"/>
            <a:ext cx="12192000" cy="13557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/>
          <p:nvPr>
            <p:ph type="title"/>
          </p:nvPr>
        </p:nvSpPr>
        <p:spPr>
          <a:xfrm>
            <a:off x="583325" y="359200"/>
            <a:ext cx="87369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Classification</a:t>
            </a: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Report</a:t>
            </a:r>
            <a:endParaRPr/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525" y="2163775"/>
            <a:ext cx="11768950" cy="35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/>
          <p:nvPr/>
        </p:nvSpPr>
        <p:spPr>
          <a:xfrm>
            <a:off x="100" y="252250"/>
            <a:ext cx="12192000" cy="13557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9"/>
          <p:cNvSpPr txBox="1"/>
          <p:nvPr>
            <p:ph type="title"/>
          </p:nvPr>
        </p:nvSpPr>
        <p:spPr>
          <a:xfrm>
            <a:off x="583325" y="359200"/>
            <a:ext cx="87369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Evaluation Metric</a:t>
            </a:r>
            <a:endParaRPr/>
          </a:p>
        </p:txBody>
      </p:sp>
      <p:pic>
        <p:nvPicPr>
          <p:cNvPr id="205" name="Google Shape;2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925" y="1667275"/>
            <a:ext cx="8212450" cy="503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/>
          <p:nvPr/>
        </p:nvSpPr>
        <p:spPr>
          <a:xfrm>
            <a:off x="100" y="252250"/>
            <a:ext cx="12192000" cy="13557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0"/>
          <p:cNvSpPr txBox="1"/>
          <p:nvPr>
            <p:ph type="title"/>
          </p:nvPr>
        </p:nvSpPr>
        <p:spPr>
          <a:xfrm>
            <a:off x="583325" y="359200"/>
            <a:ext cx="87369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Confusion Matrix</a:t>
            </a:r>
            <a:endParaRPr b="1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12" name="Google Shape;21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200" y="1772200"/>
            <a:ext cx="7712299" cy="499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/>
          <p:nvPr/>
        </p:nvSpPr>
        <p:spPr>
          <a:xfrm>
            <a:off x="0" y="278019"/>
            <a:ext cx="12192000" cy="11667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1"/>
          <p:cNvSpPr txBox="1"/>
          <p:nvPr>
            <p:ph type="ctrTitle"/>
          </p:nvPr>
        </p:nvSpPr>
        <p:spPr>
          <a:xfrm>
            <a:off x="405050" y="397719"/>
            <a:ext cx="110802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Model Deployment (ONNX)</a:t>
            </a:r>
            <a:endParaRPr/>
          </a:p>
        </p:txBody>
      </p:sp>
      <p:sp>
        <p:nvSpPr>
          <p:cNvPr id="219" name="Google Shape;219;p31"/>
          <p:cNvSpPr txBox="1"/>
          <p:nvPr>
            <p:ph idx="1" type="subTitle"/>
          </p:nvPr>
        </p:nvSpPr>
        <p:spPr>
          <a:xfrm>
            <a:off x="405050" y="1563375"/>
            <a:ext cx="7568400" cy="49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3000"/>
              <a:t>Exporting the Trained Model for Deployment:</a:t>
            </a:r>
            <a:endParaRPr b="1"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8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final </a:t>
            </a:r>
            <a:r>
              <a:rPr i="1" lang="en-US"/>
              <a:t>DenseNet121</a:t>
            </a:r>
            <a:r>
              <a:rPr lang="en-US"/>
              <a:t> model was exported to the </a:t>
            </a:r>
            <a:r>
              <a:rPr i="1" lang="en-US"/>
              <a:t>ONNX </a:t>
            </a:r>
            <a:r>
              <a:rPr lang="en-US"/>
              <a:t>(Open Neural Network Exchange) format.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i="1" lang="en-US"/>
              <a:t>ONNX </a:t>
            </a:r>
            <a:r>
              <a:rPr lang="en-US"/>
              <a:t>serves as a universal AI model format, enabling deployment across frameworks and devices.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This ensures the model can run without retraining in other environments.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exported file, </a:t>
            </a:r>
            <a:r>
              <a:rPr i="1" lang="en-US"/>
              <a:t>DenseNet121_finetuned_final.onnx</a:t>
            </a:r>
            <a:r>
              <a:rPr lang="en-US"/>
              <a:t>, is fully compatible with ONNX Runtime.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Supports deployment</a:t>
            </a:r>
            <a:r>
              <a:rPr lang="en-US"/>
              <a:t> on Web and Mobile apps</a:t>
            </a:r>
            <a:endParaRPr/>
          </a:p>
        </p:txBody>
      </p:sp>
      <p:pic>
        <p:nvPicPr>
          <p:cNvPr id="220" name="Google Shape;220;p31" title="ChatGPT Image Nov 10, 2025, 05_33_1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2325" y="2191813"/>
            <a:ext cx="4359124" cy="435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/>
          <p:nvPr/>
        </p:nvSpPr>
        <p:spPr>
          <a:xfrm>
            <a:off x="0" y="539050"/>
            <a:ext cx="12192000" cy="11667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2"/>
          <p:cNvSpPr txBox="1"/>
          <p:nvPr>
            <p:ph type="ctrTitle"/>
          </p:nvPr>
        </p:nvSpPr>
        <p:spPr>
          <a:xfrm>
            <a:off x="677925" y="599500"/>
            <a:ext cx="91440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Real-World Impact</a:t>
            </a:r>
            <a:endParaRPr/>
          </a:p>
        </p:txBody>
      </p:sp>
      <p:sp>
        <p:nvSpPr>
          <p:cNvPr id="227" name="Google Shape;227;p32"/>
          <p:cNvSpPr txBox="1"/>
          <p:nvPr>
            <p:ph idx="1" type="subTitle"/>
          </p:nvPr>
        </p:nvSpPr>
        <p:spPr>
          <a:xfrm>
            <a:off x="677917" y="2238703"/>
            <a:ext cx="10142483" cy="3846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Agricultural Relevance and Impact</a:t>
            </a:r>
            <a:endParaRPr b="1"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Early detection of Fall Armyworm infestations via mobile or drone imagery.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Provides farmers with real-time alerts for pest outbreaks. 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Helps reduce crop damage and improve food security.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Scalable for integration with IoT or drone-based monitoring systems. 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Portable ONNX format ensures use on mobile, web, and edge devices.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/>
          <p:nvPr/>
        </p:nvSpPr>
        <p:spPr>
          <a:xfrm>
            <a:off x="0" y="539050"/>
            <a:ext cx="12192000" cy="11667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3"/>
          <p:cNvSpPr txBox="1"/>
          <p:nvPr>
            <p:ph type="ctrTitle"/>
          </p:nvPr>
        </p:nvSpPr>
        <p:spPr>
          <a:xfrm>
            <a:off x="677925" y="599500"/>
            <a:ext cx="91440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Future Work / Next Steps</a:t>
            </a:r>
            <a:endParaRPr/>
          </a:p>
        </p:txBody>
      </p:sp>
      <p:sp>
        <p:nvSpPr>
          <p:cNvPr id="234" name="Google Shape;234;p33"/>
          <p:cNvSpPr txBox="1"/>
          <p:nvPr>
            <p:ph idx="1" type="subTitle"/>
          </p:nvPr>
        </p:nvSpPr>
        <p:spPr>
          <a:xfrm>
            <a:off x="677925" y="1922150"/>
            <a:ext cx="10142400" cy="46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Future Enhancements</a:t>
            </a:r>
            <a:endParaRPr b="1"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Expand dataset with more crop types and regions.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Add multi-class classification for other pests.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Helps reduce crop damage and improve food security.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Deploy a mobile or web app interface for real-time detection.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Integrate with drone and IoT surveillance platforms.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Explore quantization or TensorRT for faster inference.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/>
          <p:nvPr/>
        </p:nvSpPr>
        <p:spPr>
          <a:xfrm>
            <a:off x="0" y="310900"/>
            <a:ext cx="12192000" cy="9630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4"/>
          <p:cNvSpPr txBox="1"/>
          <p:nvPr>
            <p:ph type="title"/>
          </p:nvPr>
        </p:nvSpPr>
        <p:spPr>
          <a:xfrm>
            <a:off x="647811" y="1296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Team Roles and Contributions</a:t>
            </a:r>
            <a:endParaRPr/>
          </a:p>
        </p:txBody>
      </p:sp>
      <p:sp>
        <p:nvSpPr>
          <p:cNvPr id="241" name="Google Shape;241;p34"/>
          <p:cNvSpPr txBox="1"/>
          <p:nvPr/>
        </p:nvSpPr>
        <p:spPr>
          <a:xfrm>
            <a:off x="744875" y="1296788"/>
            <a:ext cx="623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Structure and Contributions:</a:t>
            </a:r>
            <a:endParaRPr b="1"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" name="Google Shape;242;p34"/>
          <p:cNvGraphicFramePr/>
          <p:nvPr/>
        </p:nvGraphicFramePr>
        <p:xfrm>
          <a:off x="744875" y="193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{E653E535-451B-4B61-B24E-656DD19DE184}</a:tableStyleId>
              </a:tblPr>
              <a:tblGrid>
                <a:gridCol w="3595350"/>
                <a:gridCol w="3595350"/>
                <a:gridCol w="3595350"/>
              </a:tblGrid>
              <a:tr h="67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Role / Task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Member(s)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Key Contribution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75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Team Lead / Integration</a:t>
                      </a:r>
                      <a:endParaRPr b="1"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Goodluck</a:t>
                      </a:r>
                      <a:endParaRPr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Coordination, GitHub setup, model pipeline, ONNX export</a:t>
                      </a:r>
                      <a:endParaRPr b="1"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Data Collection &amp; Preprocessing</a:t>
                      </a:r>
                      <a:endParaRPr b="1"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Faiz, Chinazor, Kazeem, Similoluwa</a:t>
                      </a:r>
                      <a:endParaRPr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Dataset sourcing, augmentation, cleaning</a:t>
                      </a:r>
                      <a:endParaRPr b="1"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Model Training &amp; Evaluation</a:t>
                      </a:r>
                      <a:endParaRPr b="1"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Thankgod, Lawal, Joyce, Deborah, Zibahkesh, Jeffery, Opeyemi</a:t>
                      </a:r>
                      <a:endParaRPr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CNN architecture setup, fine-tuning, metric evaluation</a:t>
                      </a:r>
                      <a:endParaRPr b="1"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Documentation &amp; Reporting</a:t>
                      </a:r>
                      <a:endParaRPr b="1"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Daniel, Jesse, Christabel, Aisha, Augustine</a:t>
                      </a:r>
                      <a:endParaRPr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Notebook writing, visualizations, report compilation</a:t>
                      </a:r>
                      <a:endParaRPr b="1"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Presentation &amp; Review</a:t>
                      </a:r>
                      <a:endParaRPr b="1"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All members</a:t>
                      </a:r>
                      <a:endParaRPr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Slide design, final presentation preparation</a:t>
                      </a:r>
                      <a:endParaRPr b="1" sz="17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/>
          <p:nvPr/>
        </p:nvSpPr>
        <p:spPr>
          <a:xfrm>
            <a:off x="0" y="539050"/>
            <a:ext cx="12192000" cy="1166700"/>
          </a:xfrm>
          <a:prstGeom prst="rect">
            <a:avLst/>
          </a:prstGeom>
          <a:solidFill>
            <a:srgbClr val="4C783D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5"/>
          <p:cNvSpPr txBox="1"/>
          <p:nvPr>
            <p:ph type="ctrTitle"/>
          </p:nvPr>
        </p:nvSpPr>
        <p:spPr>
          <a:xfrm>
            <a:off x="677925" y="599500"/>
            <a:ext cx="91440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 Black"/>
              <a:buNone/>
            </a:pPr>
            <a:r>
              <a:rPr b="1"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Acknowledgment / Conclusion</a:t>
            </a:r>
            <a:endParaRPr/>
          </a:p>
        </p:txBody>
      </p:sp>
      <p:sp>
        <p:nvSpPr>
          <p:cNvPr id="249" name="Google Shape;249;p35"/>
          <p:cNvSpPr txBox="1"/>
          <p:nvPr>
            <p:ph idx="1" type="subTitle"/>
          </p:nvPr>
        </p:nvSpPr>
        <p:spPr>
          <a:xfrm>
            <a:off x="677925" y="1922150"/>
            <a:ext cx="10142400" cy="46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Acknowledgment:</a:t>
            </a:r>
            <a:endParaRPr b="1" sz="3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We appreciate the support and guidance of our mentor, </a:t>
            </a:r>
            <a:r>
              <a:rPr b="1" lang="en-US" sz="3600"/>
              <a:t>Mr. Hammed Obasekore</a:t>
            </a:r>
            <a:r>
              <a:rPr lang="en-US" sz="3600"/>
              <a:t>, and the AI Bootcamp organizing team. </a:t>
            </a:r>
            <a:endParaRPr sz="3600"/>
          </a:p>
          <a:p>
            <a:pPr indent="45720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45720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This project represents our shared commitment to applying AI for agricultural innovation and sustainable food security in Africa.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